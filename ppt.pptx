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5" r:id="rId4"/>
  </p:sldMasterIdLst>
  <p:notesMasterIdLst>
    <p:notesMasterId r:id="rId25"/>
  </p:notesMasterIdLst>
  <p:sldIdLst>
    <p:sldId id="266" r:id="rId5"/>
    <p:sldId id="267" r:id="rId6"/>
    <p:sldId id="268" r:id="rId7"/>
    <p:sldId id="269" r:id="rId8"/>
    <p:sldId id="270" r:id="rId9"/>
    <p:sldId id="271" r:id="rId10"/>
    <p:sldId id="272" r:id="rId11"/>
    <p:sldId id="282" r:id="rId12"/>
    <p:sldId id="273" r:id="rId13"/>
    <p:sldId id="274" r:id="rId14"/>
    <p:sldId id="275" r:id="rId15"/>
    <p:sldId id="286" r:id="rId16"/>
    <p:sldId id="277" r:id="rId17"/>
    <p:sldId id="278" r:id="rId18"/>
    <p:sldId id="283" r:id="rId19"/>
    <p:sldId id="284" r:id="rId20"/>
    <p:sldId id="281" r:id="rId21"/>
    <p:sldId id="279" r:id="rId22"/>
    <p:sldId id="280" r:id="rId23"/>
    <p:sldId id="285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60" d="100"/>
          <a:sy n="60" d="100"/>
        </p:scale>
        <p:origin x="11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496571-9954-4C8B-A5CF-DB026DBC3E79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6F4F75-ECC5-47F3-A631-CEAC51A242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388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9184DA70-C731-4C70-880D-CCD4705E623C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241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757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476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627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108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64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633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A474-078D-4E9B-9B14-09A87B19DC46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11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7D986-8816-4272-A432-0437A28A9828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590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9985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18471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92032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53548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26169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14161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62D6E202-B606-4609-B914-27C9371A1F6D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11167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62D6E202-B606-4609-B914-27C9371A1F6D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47708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288946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62D6E202-B606-4609-B914-27C9371A1F6D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108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000" y="501445"/>
            <a:ext cx="4813072" cy="3632443"/>
          </a:xfrm>
        </p:spPr>
        <p:txBody>
          <a:bodyPr>
            <a:normAutofit fontScale="90000"/>
          </a:bodyPr>
          <a:lstStyle/>
          <a:p>
            <a:r>
              <a:rPr lang="en-US" sz="6700" dirty="0">
                <a:latin typeface="Algerian" panose="04020705040A02060702" pitchFamily="82" charset="0"/>
              </a:rPr>
              <a:t> heart </a:t>
            </a:r>
            <a:r>
              <a:rPr lang="en-US" sz="4400" dirty="0">
                <a:latin typeface="Algerian" panose="04020705040A02060702" pitchFamily="82" charset="0"/>
              </a:rPr>
              <a:t>disease Prediction using Patient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1510" y="4611329"/>
            <a:ext cx="4027590" cy="1465006"/>
          </a:xfrm>
        </p:spPr>
        <p:txBody>
          <a:bodyPr>
            <a:normAutofit fontScale="32500" lnSpcReduction="20000"/>
          </a:bodyPr>
          <a:lstStyle/>
          <a:p>
            <a:r>
              <a:rPr lang="en-IN" sz="4500" dirty="0">
                <a:latin typeface="Arial Black" panose="020B0A04020102020204" pitchFamily="34" charset="0"/>
              </a:rPr>
              <a:t> Team Members:</a:t>
            </a:r>
          </a:p>
          <a:p>
            <a:r>
              <a:rPr lang="en-IN" sz="4500" dirty="0">
                <a:latin typeface="Arial Black" panose="020B0A04020102020204" pitchFamily="34" charset="0"/>
              </a:rPr>
              <a:t>                Anagha </a:t>
            </a:r>
            <a:r>
              <a:rPr lang="en-IN" sz="4500" dirty="0" err="1">
                <a:latin typeface="Arial Black" panose="020B0A04020102020204" pitchFamily="34" charset="0"/>
              </a:rPr>
              <a:t>jayarajan</a:t>
            </a:r>
            <a:endParaRPr lang="en-IN" sz="4500" dirty="0">
              <a:latin typeface="Arial Black" panose="020B0A04020102020204" pitchFamily="34" charset="0"/>
            </a:endParaRPr>
          </a:p>
          <a:p>
            <a:r>
              <a:rPr lang="en-IN" sz="4500" dirty="0">
                <a:latin typeface="Arial Black" panose="020B0A04020102020204" pitchFamily="34" charset="0"/>
              </a:rPr>
              <a:t>                </a:t>
            </a:r>
            <a:r>
              <a:rPr lang="en-IN" sz="4500" dirty="0" err="1">
                <a:latin typeface="Arial Black" panose="020B0A04020102020204" pitchFamily="34" charset="0"/>
              </a:rPr>
              <a:t>ananthakrishnan</a:t>
            </a:r>
            <a:r>
              <a:rPr lang="en-IN" sz="4500" dirty="0">
                <a:latin typeface="Arial Black" panose="020B0A04020102020204" pitchFamily="34" charset="0"/>
              </a:rPr>
              <a:t> B</a:t>
            </a:r>
          </a:p>
          <a:p>
            <a:r>
              <a:rPr lang="en-IN" sz="4500" dirty="0">
                <a:latin typeface="Arial Black" panose="020B0A04020102020204" pitchFamily="34" charset="0"/>
              </a:rPr>
              <a:t>                </a:t>
            </a:r>
            <a:r>
              <a:rPr lang="en-IN" sz="4500" dirty="0" err="1">
                <a:latin typeface="Arial Black" panose="020B0A04020102020204" pitchFamily="34" charset="0"/>
              </a:rPr>
              <a:t>lanka</a:t>
            </a:r>
            <a:r>
              <a:rPr lang="en-IN" sz="4500" dirty="0">
                <a:latin typeface="Arial Black" panose="020B0A04020102020204" pitchFamily="34" charset="0"/>
              </a:rPr>
              <a:t> </a:t>
            </a:r>
            <a:r>
              <a:rPr lang="en-IN" sz="4500" dirty="0" err="1">
                <a:latin typeface="Arial Black" panose="020B0A04020102020204" pitchFamily="34" charset="0"/>
              </a:rPr>
              <a:t>priya</a:t>
            </a:r>
            <a:endParaRPr lang="en-IN" sz="4500" dirty="0">
              <a:latin typeface="Arial Black" panose="020B0A04020102020204" pitchFamily="34" charset="0"/>
            </a:endParaRP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40CBE3-3F91-419A-A649-32AB388EC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0"/>
            <a:ext cx="60960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91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5C4DF-8859-F13D-43DA-7358C11F4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PROJECT OVERVIEW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2E2E198-FE18-13C1-8411-731BD3867E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0" y="2951827"/>
            <a:ext cx="8241359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Heart disease is a leading cause of death worldwide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Early detection can save lives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Machine Learning helps in accurate prediction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Goal: Build a predictive and decision-support system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BA6962-52E1-3C44-D869-65E9DF6A8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36450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02031-C4B3-D271-A12C-FE2754CB8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1447800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OBJECTIVES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832F52D-C0AD-02B2-7960-6EC7F1CE75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84313" y="2650639"/>
            <a:ext cx="8047396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patient health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key risk factors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 presence of heart disease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an interactive dashboard for user </a:t>
            </a:r>
          </a:p>
        </p:txBody>
      </p:sp>
    </p:spTree>
    <p:extLst>
      <p:ext uri="{BB962C8B-B14F-4D97-AF65-F5344CB8AC3E}">
        <p14:creationId xmlns:p14="http://schemas.microsoft.com/office/powerpoint/2010/main" val="3117568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2AEF6-9977-E501-EB9B-8A5FF848B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1656347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DATASET DESCRIPTION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EEFDE41-48DA-5298-E910-EBB6F76D0B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84313" y="2518073"/>
            <a:ext cx="7971028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Cardiovascular disease Dataset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records: </a:t>
            </a:r>
            <a:r>
              <a:rPr lang="en-US" altLang="en-US" sz="2800" dirty="0">
                <a:latin typeface="Arial" panose="020B0604020202020204" pitchFamily="34" charset="0"/>
              </a:rPr>
              <a:t>70,000 patients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features: 11 clinical features+1 target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Variable: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 → No disease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→ Disease present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163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61757-8F4C-8DD7-7259-4C9AD7315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1828800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KEY FEATURES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726FD7B-A021-B1B2-7A42-6D4E7E02AA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84313" y="2244686"/>
            <a:ext cx="5059975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 &amp; Gender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Chest Pain Type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Blood Pressure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Cholesterol Level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Maximum Heart Rate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Exercise Induced Angina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Oldpeak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Slope, CA, Thal </a:t>
            </a:r>
          </a:p>
        </p:txBody>
      </p:sp>
    </p:spTree>
    <p:extLst>
      <p:ext uri="{BB962C8B-B14F-4D97-AF65-F5344CB8AC3E}">
        <p14:creationId xmlns:p14="http://schemas.microsoft.com/office/powerpoint/2010/main" val="3847495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CA42D-67BE-55A1-345D-D40001B33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1828800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PROBLEM STATEMENT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CE7330F-E005-9F88-9AF1-77DE646637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84313" y="3436967"/>
            <a:ext cx="8321509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 whether a patient has heart disease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clinical data for classification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early diagnosis accuracy </a:t>
            </a:r>
          </a:p>
        </p:txBody>
      </p:sp>
    </p:spTree>
    <p:extLst>
      <p:ext uri="{BB962C8B-B14F-4D97-AF65-F5344CB8AC3E}">
        <p14:creationId xmlns:p14="http://schemas.microsoft.com/office/powerpoint/2010/main" val="1387528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AB5FD-60D3-8584-9661-837E9CFC2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1207168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DATA PREPROCESSING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E5AC457-2930-35FE-DB8A-11ADA4B318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84313" y="3062159"/>
            <a:ext cx="8073044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missing and inconsistent values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and formatting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scaling applied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Prepared dataset for modeling </a:t>
            </a:r>
          </a:p>
        </p:txBody>
      </p:sp>
    </p:spTree>
    <p:extLst>
      <p:ext uri="{BB962C8B-B14F-4D97-AF65-F5344CB8AC3E}">
        <p14:creationId xmlns:p14="http://schemas.microsoft.com/office/powerpoint/2010/main" val="2570716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DB89D-2CBD-2490-665D-4732D69A8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799"/>
            <a:ext cx="10018711" cy="982579"/>
          </a:xfrm>
        </p:spPr>
        <p:txBody>
          <a:bodyPr>
            <a:normAutofit/>
          </a:bodyPr>
          <a:lstStyle/>
          <a:p>
            <a:r>
              <a:rPr lang="en-US" dirty="0">
                <a:latin typeface="Algerian" panose="04020705040A02060702" pitchFamily="82" charset="0"/>
              </a:rPr>
              <a:t>CLEANED  DATA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3FC25-55BA-78C0-1D6B-B23B89CD9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2" y="2069432"/>
            <a:ext cx="10018713" cy="3721768"/>
          </a:xfrm>
        </p:spPr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1A6A38-7B53-1C37-40A1-C0C4B8B3F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441" y="2271551"/>
            <a:ext cx="8183117" cy="340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08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6FCE1-FA59-B6F5-22BB-E9E7301D2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1828800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EXPLORATORY DATA ANALYSIS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CD1E963-202A-FBAE-8259-84320FEAA0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84313" y="2708940"/>
            <a:ext cx="8048998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Studied feature distributions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Identified patterns and trends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Correlation heatmap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Observed relationships between variables </a:t>
            </a:r>
          </a:p>
        </p:txBody>
      </p:sp>
    </p:spTree>
    <p:extLst>
      <p:ext uri="{BB962C8B-B14F-4D97-AF65-F5344CB8AC3E}">
        <p14:creationId xmlns:p14="http://schemas.microsoft.com/office/powerpoint/2010/main" val="2195908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F2272-62B5-2FB3-C069-A5064A9F3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1447800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FEATURE SELECTION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D43A17-4CF7-3076-3995-242E88E557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84313" y="2985730"/>
            <a:ext cx="6454011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Mutual Information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Chi-Square Test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Selected most important features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model complexity </a:t>
            </a:r>
          </a:p>
        </p:txBody>
      </p:sp>
    </p:spTree>
    <p:extLst>
      <p:ext uri="{BB962C8B-B14F-4D97-AF65-F5344CB8AC3E}">
        <p14:creationId xmlns:p14="http://schemas.microsoft.com/office/powerpoint/2010/main" val="370245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71D70-E6B7-979D-8523-78B2DA6B5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1447800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MACHINE LEARNING MODEL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EA7A66F-C6E2-C694-A216-70F68F0DC6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84313" y="3081774"/>
            <a:ext cx="5522666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Random forest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dirty="0" err="1">
                <a:latin typeface="Arial" panose="020B0604020202020204" pitchFamily="34" charset="0"/>
              </a:rPr>
              <a:t>XGBoost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Compared multiple models </a:t>
            </a:r>
          </a:p>
        </p:txBody>
      </p:sp>
    </p:spTree>
    <p:extLst>
      <p:ext uri="{BB962C8B-B14F-4D97-AF65-F5344CB8AC3E}">
        <p14:creationId xmlns:p14="http://schemas.microsoft.com/office/powerpoint/2010/main" val="2831117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876B7-D32A-D342-7232-272EFDCBE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089848"/>
          </a:xfrm>
        </p:spPr>
        <p:txBody>
          <a:bodyPr/>
          <a:lstStyle/>
          <a:p>
            <a:r>
              <a:rPr lang="en-US" dirty="0"/>
              <a:t>MODEL EVALUATION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B30F76-599F-3A84-9C9F-2D898378C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2949677"/>
            <a:ext cx="8825659" cy="3070123"/>
          </a:xfrm>
        </p:spPr>
        <p:txBody>
          <a:bodyPr>
            <a:normAutofit/>
          </a:bodyPr>
          <a:lstStyle/>
          <a:p>
            <a:r>
              <a:rPr lang="en-IN" sz="3200" dirty="0"/>
              <a:t>Accuracy </a:t>
            </a:r>
            <a:endParaRPr lang="en-IN" sz="2400" dirty="0">
              <a:latin typeface=" calibri"/>
            </a:endParaRPr>
          </a:p>
          <a:p>
            <a:r>
              <a:rPr lang="en-IN" sz="3200" dirty="0"/>
              <a:t>Precision</a:t>
            </a:r>
          </a:p>
          <a:p>
            <a:r>
              <a:rPr lang="en-IN" sz="3200" dirty="0"/>
              <a:t>Recall</a:t>
            </a:r>
          </a:p>
          <a:p>
            <a:r>
              <a:rPr lang="en-IN" sz="3200" dirty="0"/>
              <a:t>F1-Score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44DCA1-04E7-E939-31F7-55AB1AA06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130" y="3389362"/>
            <a:ext cx="7560344" cy="283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37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906DB-0D19-6AE5-0324-0177DBBAD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1078832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RESULTS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EBBA51-F200-379F-4B7E-4686E81D91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84313" y="2747198"/>
            <a:ext cx="7366119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</a:rPr>
              <a:t>XGBoost</a:t>
            </a:r>
            <a:r>
              <a:rPr lang="en-US" altLang="en-US" sz="3200" dirty="0"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performed best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Balanced accuracy and interpretability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Selected as final model </a:t>
            </a:r>
          </a:p>
        </p:txBody>
      </p:sp>
    </p:spTree>
    <p:extLst>
      <p:ext uri="{BB962C8B-B14F-4D97-AF65-F5344CB8AC3E}">
        <p14:creationId xmlns:p14="http://schemas.microsoft.com/office/powerpoint/2010/main" val="548802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A30F0-1B46-10D7-4071-7C5BC3FD3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1828800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MODEL DEPLOYMENT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D136F2-8674-9173-D1C0-7BAB95418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2" y="2326105"/>
            <a:ext cx="10018713" cy="3465095"/>
          </a:xfrm>
        </p:spPr>
        <p:txBody>
          <a:bodyPr>
            <a:normAutofit/>
          </a:bodyPr>
          <a:lstStyle/>
          <a:p>
            <a:r>
              <a:rPr lang="en-US" sz="2800" dirty="0"/>
              <a:t>Model saved and integrated </a:t>
            </a:r>
          </a:p>
          <a:p>
            <a:r>
              <a:rPr lang="en-US" sz="2800" dirty="0"/>
              <a:t>Built using </a:t>
            </a:r>
            <a:r>
              <a:rPr lang="en-US" sz="2800" dirty="0" err="1"/>
              <a:t>Streamlit</a:t>
            </a:r>
            <a:r>
              <a:rPr lang="en-US" sz="2800" dirty="0"/>
              <a:t> </a:t>
            </a:r>
          </a:p>
          <a:p>
            <a:r>
              <a:rPr lang="en-US" sz="2800" dirty="0"/>
              <a:t>User-friendly interface </a:t>
            </a:r>
          </a:p>
          <a:p>
            <a:r>
              <a:rPr lang="en-US" sz="2800" dirty="0"/>
              <a:t>Real-time predictions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7860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C5AD0-F526-20BE-DFCB-95F75715E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1030705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APP INTERFACE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3ACEA-D291-6170-966E-E46959CA6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2" y="2165684"/>
            <a:ext cx="10018713" cy="3625516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B46B07-65FF-07F4-5C15-17AF62489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643" y="1916522"/>
            <a:ext cx="10018713" cy="4723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899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6483F-FC5A-6D10-3C33-F7B8FF1B7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-978568"/>
            <a:ext cx="10018711" cy="3112168"/>
          </a:xfrm>
        </p:spPr>
        <p:txBody>
          <a:bodyPr/>
          <a:lstStyle/>
          <a:p>
            <a:br>
              <a:rPr lang="en-US" dirty="0">
                <a:latin typeface="Algerian" panose="04020705040A02060702" pitchFamily="82" charset="0"/>
              </a:rPr>
            </a:br>
            <a:br>
              <a:rPr lang="en-US" dirty="0">
                <a:latin typeface="Algerian" panose="04020705040A02060702" pitchFamily="82" charset="0"/>
              </a:rPr>
            </a:br>
            <a:br>
              <a:rPr lang="en-US" dirty="0">
                <a:latin typeface="Algerian" panose="04020705040A02060702" pitchFamily="82" charset="0"/>
              </a:rPr>
            </a:br>
            <a:br>
              <a:rPr lang="en-US" dirty="0">
                <a:latin typeface="Algerian" panose="04020705040A02060702" pitchFamily="82" charset="0"/>
              </a:rPr>
            </a:br>
            <a:r>
              <a:rPr lang="en-US" dirty="0">
                <a:latin typeface="Algerian" panose="04020705040A02060702" pitchFamily="82" charset="0"/>
              </a:rPr>
              <a:t>WORKFLOW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98BC41-F3A1-8E52-A11A-E5C9FB2FD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2" y="2212258"/>
            <a:ext cx="10018713" cy="4525426"/>
          </a:xfrm>
        </p:spPr>
        <p:txBody>
          <a:bodyPr>
            <a:noAutofit/>
          </a:bodyPr>
          <a:lstStyle/>
          <a:p>
            <a:r>
              <a:rPr lang="en-IN" sz="3200" dirty="0"/>
              <a:t>Data Collection → Data Cleaning → Preprocessing → EDA →</a:t>
            </a:r>
          </a:p>
          <a:p>
            <a:r>
              <a:rPr lang="en-IN" sz="3200" dirty="0"/>
              <a:t>Feature Selection → Model Training → Model Evaluation →</a:t>
            </a:r>
          </a:p>
          <a:p>
            <a:r>
              <a:rPr lang="en-IN" sz="3200" dirty="0"/>
              <a:t>Model Selection → Model Saving → Deployment → Prediction</a:t>
            </a:r>
          </a:p>
        </p:txBody>
      </p:sp>
    </p:spTree>
    <p:extLst>
      <p:ext uri="{BB962C8B-B14F-4D97-AF65-F5344CB8AC3E}">
        <p14:creationId xmlns:p14="http://schemas.microsoft.com/office/powerpoint/2010/main" val="2243714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16071-7598-5F61-EADA-67DD438EB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2089484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CONCLUSION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54E3C6-9D1F-7CDA-920A-33F7A04F8E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84313" y="3005802"/>
            <a:ext cx="798007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can aid early diagnosis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dirty="0" err="1">
                <a:latin typeface="Arial" panose="020B0604020202020204" pitchFamily="34" charset="0"/>
              </a:rPr>
              <a:t>XGboost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gave reliable results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helps in clinical decision support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extended with more data </a:t>
            </a:r>
          </a:p>
        </p:txBody>
      </p:sp>
    </p:spTree>
    <p:extLst>
      <p:ext uri="{BB962C8B-B14F-4D97-AF65-F5344CB8AC3E}">
        <p14:creationId xmlns:p14="http://schemas.microsoft.com/office/powerpoint/2010/main" val="19361027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CCDE0-483A-FECB-A4B8-5B6A932AE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1828800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FUTURE SCOPE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7E9EE9E-4AD0-AD0F-73A8-7EDB2A6202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84313" y="2997865"/>
            <a:ext cx="7114448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larger datasets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accuracy with deep learning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with hospital systems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real-time patient monitorin</a:t>
            </a:r>
            <a:r>
              <a:rPr lang="en-US" altLang="en-US" sz="3200" dirty="0">
                <a:latin typeface="Arial" panose="020B0604020202020204" pitchFamily="34" charset="0"/>
              </a:rPr>
              <a:t>g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0704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759E3-DFB3-816C-6AFF-A29F51791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1447800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LIVE APPLICATION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2084AF-EEBA-8F89-821E-3BA0EC884A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84313" y="3132167"/>
            <a:ext cx="6729727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 application available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 heart disease instantly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to use interface </a:t>
            </a:r>
          </a:p>
        </p:txBody>
      </p:sp>
    </p:spTree>
    <p:extLst>
      <p:ext uri="{BB962C8B-B14F-4D97-AF65-F5344CB8AC3E}">
        <p14:creationId xmlns:p14="http://schemas.microsoft.com/office/powerpoint/2010/main" val="35546576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358A6-85B5-5237-B793-39B7BA358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0" y="530942"/>
            <a:ext cx="7235824" cy="2123768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THANKYOU….</a:t>
            </a:r>
            <a:endParaRPr lang="en-IN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5505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6377351-63A1-4C2E-8C9A-66CDD70F1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F3CD65D-61A5-43C9-A837-6EC73C7DA8A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31F006B4-A9E1-4F39-85C8-FB836F9193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199</TotalTime>
  <Words>333</Words>
  <Application>Microsoft Office PowerPoint</Application>
  <PresentationFormat>Widescreen</PresentationFormat>
  <Paragraphs>103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 calibri</vt:lpstr>
      <vt:lpstr>Algerian</vt:lpstr>
      <vt:lpstr>Arial</vt:lpstr>
      <vt:lpstr>Arial Black</vt:lpstr>
      <vt:lpstr>Arial Narrow</vt:lpstr>
      <vt:lpstr>Calibri</vt:lpstr>
      <vt:lpstr>Century Gothic</vt:lpstr>
      <vt:lpstr>Wingdings 3</vt:lpstr>
      <vt:lpstr>Ion Boardroom</vt:lpstr>
      <vt:lpstr> heart disease Prediction using Patient Data</vt:lpstr>
      <vt:lpstr>PROJECT OVERVIEW</vt:lpstr>
      <vt:lpstr>OBJECTIVES</vt:lpstr>
      <vt:lpstr>DATASET DESCRIPTION</vt:lpstr>
      <vt:lpstr>KEY FEATURES</vt:lpstr>
      <vt:lpstr>PROBLEM STATEMENT</vt:lpstr>
      <vt:lpstr>DATA PREPROCESSING</vt:lpstr>
      <vt:lpstr>CLEANED  DATA</vt:lpstr>
      <vt:lpstr>EXPLORATORY DATA ANALYSIS</vt:lpstr>
      <vt:lpstr>FEATURE SELECTION</vt:lpstr>
      <vt:lpstr>MACHINE LEARNING MODEL</vt:lpstr>
      <vt:lpstr>MODEL EVALUATION</vt:lpstr>
      <vt:lpstr>RESULTS</vt:lpstr>
      <vt:lpstr>MODEL DEPLOYMENT</vt:lpstr>
      <vt:lpstr>APP INTERFACE</vt:lpstr>
      <vt:lpstr>    WORKFLOW</vt:lpstr>
      <vt:lpstr>CONCLUSION</vt:lpstr>
      <vt:lpstr>FUTURE SCOPE</vt:lpstr>
      <vt:lpstr>LIVE APPLICATION</vt:lpstr>
      <vt:lpstr>THANKYOU….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aryaallu405@gmail.com</dc:creator>
  <cp:lastModifiedBy>user</cp:lastModifiedBy>
  <cp:revision>10</cp:revision>
  <dcterms:created xsi:type="dcterms:W3CDTF">2026-04-20T13:53:58Z</dcterms:created>
  <dcterms:modified xsi:type="dcterms:W3CDTF">2026-05-11T14:02:54Z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